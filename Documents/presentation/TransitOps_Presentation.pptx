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604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0"/>
            <a:ext cx="12188952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5367528"/>
            <a:ext cx="548640" cy="18288"/>
          </a:xfrm>
          <a:prstGeom prst="rect">
            <a:avLst/>
          </a:prstGeom>
          <a:solidFill>
            <a:srgbClr val="4FD9C7"/>
          </a:solidFill>
          <a:ln/>
        </p:spPr>
      </p:sp>
      <p:sp>
        <p:nvSpPr>
          <p:cNvPr id="4" name="Shape 2"/>
          <p:cNvSpPr/>
          <p:nvPr/>
        </p:nvSpPr>
        <p:spPr>
          <a:xfrm>
            <a:off x="1600200" y="5367528"/>
            <a:ext cx="548640" cy="18288"/>
          </a:xfrm>
          <a:prstGeom prst="rect">
            <a:avLst/>
          </a:prstGeom>
          <a:solidFill>
            <a:srgbClr val="4FD9C7"/>
          </a:solidFill>
          <a:ln/>
        </p:spPr>
      </p:sp>
      <p:sp>
        <p:nvSpPr>
          <p:cNvPr id="5" name="Shape 3"/>
          <p:cNvSpPr/>
          <p:nvPr/>
        </p:nvSpPr>
        <p:spPr>
          <a:xfrm>
            <a:off x="2834640" y="5367528"/>
            <a:ext cx="548640" cy="18288"/>
          </a:xfrm>
          <a:prstGeom prst="rect">
            <a:avLst/>
          </a:prstGeom>
          <a:solidFill>
            <a:srgbClr val="4FD9C7"/>
          </a:solidFill>
          <a:ln/>
        </p:spPr>
      </p:sp>
      <p:sp>
        <p:nvSpPr>
          <p:cNvPr id="6" name="Shape 4"/>
          <p:cNvSpPr/>
          <p:nvPr/>
        </p:nvSpPr>
        <p:spPr>
          <a:xfrm>
            <a:off x="4069080" y="5367528"/>
            <a:ext cx="548640" cy="18288"/>
          </a:xfrm>
          <a:prstGeom prst="rect">
            <a:avLst/>
          </a:prstGeom>
          <a:solidFill>
            <a:srgbClr val="4FD9C7"/>
          </a:solidFill>
          <a:ln/>
        </p:spPr>
      </p:sp>
      <p:sp>
        <p:nvSpPr>
          <p:cNvPr id="7" name="Shape 5"/>
          <p:cNvSpPr/>
          <p:nvPr/>
        </p:nvSpPr>
        <p:spPr>
          <a:xfrm>
            <a:off x="5303520" y="5367528"/>
            <a:ext cx="548640" cy="18288"/>
          </a:xfrm>
          <a:prstGeom prst="rect">
            <a:avLst/>
          </a:prstGeom>
          <a:solidFill>
            <a:srgbClr val="4FD9C7"/>
          </a:solidFill>
          <a:ln/>
        </p:spPr>
      </p:sp>
      <p:sp>
        <p:nvSpPr>
          <p:cNvPr id="8" name="Shape 6"/>
          <p:cNvSpPr/>
          <p:nvPr/>
        </p:nvSpPr>
        <p:spPr>
          <a:xfrm>
            <a:off x="6537960" y="5367528"/>
            <a:ext cx="548640" cy="18288"/>
          </a:xfrm>
          <a:prstGeom prst="rect">
            <a:avLst/>
          </a:prstGeom>
          <a:solidFill>
            <a:srgbClr val="4FD9C7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5367528"/>
            <a:ext cx="548640" cy="18288"/>
          </a:xfrm>
          <a:prstGeom prst="rect">
            <a:avLst/>
          </a:prstGeom>
          <a:solidFill>
            <a:srgbClr val="4FD9C7"/>
          </a:solidFill>
          <a:ln/>
        </p:spPr>
      </p:sp>
      <p:sp>
        <p:nvSpPr>
          <p:cNvPr id="10" name="Shape 8"/>
          <p:cNvSpPr/>
          <p:nvPr/>
        </p:nvSpPr>
        <p:spPr>
          <a:xfrm>
            <a:off x="9006840" y="5367528"/>
            <a:ext cx="548640" cy="18288"/>
          </a:xfrm>
          <a:prstGeom prst="rect">
            <a:avLst/>
          </a:prstGeom>
          <a:solidFill>
            <a:srgbClr val="4FD9C7"/>
          </a:solidFill>
          <a:ln/>
        </p:spPr>
      </p:sp>
      <p:sp>
        <p:nvSpPr>
          <p:cNvPr id="11" name="Shape 9"/>
          <p:cNvSpPr/>
          <p:nvPr/>
        </p:nvSpPr>
        <p:spPr>
          <a:xfrm>
            <a:off x="10241280" y="5367528"/>
            <a:ext cx="548640" cy="18288"/>
          </a:xfrm>
          <a:prstGeom prst="rect">
            <a:avLst/>
          </a:prstGeom>
          <a:solidFill>
            <a:srgbClr val="4FD9C7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75720" y="5367528"/>
            <a:ext cx="548640" cy="18288"/>
          </a:xfrm>
          <a:prstGeom prst="rect">
            <a:avLst/>
          </a:prstGeom>
          <a:solidFill>
            <a:srgbClr val="4FD9C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640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502920" y="25146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TransitOps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54864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Fleet &amp; Logistics Operations Platform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" y="42062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vehicles, drivers, trips, fuel and maintenance — all in one system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Project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943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 is a web-based fleet and logistics operations platform. It gives a transport or logistics team one place to manage vehicles, drivers, trips, fuel costs and vehicle maintenance — replacing scattered spreadsheets with a single, role-based application.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3959352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749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08736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backend, MongoDB database, browser-based frontend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7091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4873752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663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500176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roles — fleet manager, dispatcher, safety officer, financial analyst, viewer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6235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5788152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5577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lifecycle tracking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591616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trip is followed from creation to completion, with rules enforced automatically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40880" y="1554480"/>
            <a:ext cx="4572000" cy="4480560"/>
          </a:xfrm>
          <a:prstGeom prst="roundRect">
            <a:avLst>
              <a:gd name="adj" fmla="val 2449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06640" y="1874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MANAGES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52360" y="2450592"/>
            <a:ext cx="109728" cy="109728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20" name="Text 18"/>
          <p:cNvSpPr/>
          <p:nvPr/>
        </p:nvSpPr>
        <p:spPr>
          <a:xfrm>
            <a:off x="7726680" y="23042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452360" y="3017520"/>
            <a:ext cx="109728" cy="109728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22" name="Text 20"/>
          <p:cNvSpPr/>
          <p:nvPr/>
        </p:nvSpPr>
        <p:spPr>
          <a:xfrm>
            <a:off x="7726680" y="287121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452360" y="3584448"/>
            <a:ext cx="109728" cy="109728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24" name="Text 22"/>
          <p:cNvSpPr/>
          <p:nvPr/>
        </p:nvSpPr>
        <p:spPr>
          <a:xfrm>
            <a:off x="7726680" y="343814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452360" y="4151376"/>
            <a:ext cx="109728" cy="109728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26" name="Text 24"/>
          <p:cNvSpPr/>
          <p:nvPr/>
        </p:nvSpPr>
        <p:spPr>
          <a:xfrm>
            <a:off x="7726680" y="40050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&amp; Expenses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452360" y="4718304"/>
            <a:ext cx="109728" cy="109728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28" name="Text 26"/>
          <p:cNvSpPr/>
          <p:nvPr/>
        </p:nvSpPr>
        <p:spPr>
          <a:xfrm>
            <a:off x="7726680" y="4572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452360" y="5285232"/>
            <a:ext cx="109728" cy="109728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30" name="Text 28"/>
          <p:cNvSpPr/>
          <p:nvPr/>
        </p:nvSpPr>
        <p:spPr>
          <a:xfrm>
            <a:off x="7726680" y="51389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Context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 was not built for a specific client organization, designed to solve a real-world problem faced by small and mid-size fleet and logistics operators in general.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3538728" cy="2103120"/>
          </a:xfrm>
          <a:prstGeom prst="roundRect">
            <a:avLst>
              <a:gd name="adj" fmla="val 4348"/>
            </a:avLst>
          </a:prstGeom>
          <a:solidFill>
            <a:srgbClr val="21295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822960" y="4800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1663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Small-to-mid-size transport &amp; logistics operators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5112" y="3840480"/>
            <a:ext cx="3538728" cy="2103120"/>
          </a:xfrm>
          <a:prstGeom prst="roundRect">
            <a:avLst>
              <a:gd name="adj" fmla="val 4348"/>
            </a:avLst>
          </a:prstGeom>
          <a:solidFill>
            <a:srgbClr val="21295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99432" y="4114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99432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4599432" y="4800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99432" y="51663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&amp; Logistics Management Web Platform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01584" y="3840480"/>
            <a:ext cx="3538728" cy="2103120"/>
          </a:xfrm>
          <a:prstGeom prst="roundRect">
            <a:avLst>
              <a:gd name="adj" fmla="val 4348"/>
            </a:avLst>
          </a:prstGeom>
          <a:solidFill>
            <a:srgbClr val="21295C"/>
          </a:solidFill>
          <a:ln/>
        </p:spPr>
      </p:sp>
      <p:sp>
        <p:nvSpPr>
          <p:cNvPr id="17" name="Shape 15"/>
          <p:cNvSpPr/>
          <p:nvPr/>
        </p:nvSpPr>
        <p:spPr>
          <a:xfrm>
            <a:off x="8375904" y="4114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8375904" y="4800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 Modeled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75904" y="51663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Manager, Dispatcher, Safety Officer, Financial Analyst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30168" cy="4434840"/>
          </a:xfrm>
          <a:prstGeom prst="roundRect">
            <a:avLst>
              <a:gd name="adj" fmla="val 3023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594360" cy="594360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9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96112" y="3355848"/>
            <a:ext cx="91440" cy="91440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3200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96112" y="3922776"/>
            <a:ext cx="91440" cy="91440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376732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6112" y="4489704"/>
            <a:ext cx="91440" cy="91440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13" name="Text 11"/>
          <p:cNvSpPr/>
          <p:nvPr/>
        </p:nvSpPr>
        <p:spPr>
          <a:xfrm>
            <a:off x="1115568" y="433425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6112" y="5056632"/>
            <a:ext cx="91440" cy="91440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490118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Logging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07408" y="1600200"/>
            <a:ext cx="3630168" cy="4434840"/>
          </a:xfrm>
          <a:prstGeom prst="roundRect">
            <a:avLst>
              <a:gd name="adj" fmla="val 3023"/>
            </a:avLst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4727448" y="1920240"/>
            <a:ext cx="594360" cy="594360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18" name="Text 16"/>
          <p:cNvSpPr/>
          <p:nvPr/>
        </p:nvSpPr>
        <p:spPr>
          <a:xfrm>
            <a:off x="4727448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90" dirty="0"/>
          </a:p>
        </p:txBody>
      </p:sp>
      <p:sp>
        <p:nvSpPr>
          <p:cNvPr id="19" name="Text 17"/>
          <p:cNvSpPr/>
          <p:nvPr/>
        </p:nvSpPr>
        <p:spPr>
          <a:xfrm>
            <a:off x="4727448" y="2697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4754880" y="3355848"/>
            <a:ext cx="91440" cy="91440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21" name="Text 19"/>
          <p:cNvSpPr/>
          <p:nvPr/>
        </p:nvSpPr>
        <p:spPr>
          <a:xfrm>
            <a:off x="4974336" y="3200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0" y="3922776"/>
            <a:ext cx="91440" cy="91440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23" name="Text 21"/>
          <p:cNvSpPr/>
          <p:nvPr/>
        </p:nvSpPr>
        <p:spPr>
          <a:xfrm>
            <a:off x="4974336" y="376732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step required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4489704"/>
            <a:ext cx="91440" cy="91440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25" name="Text 23"/>
          <p:cNvSpPr/>
          <p:nvPr/>
        </p:nvSpPr>
        <p:spPr>
          <a:xfrm>
            <a:off x="4974336" y="433425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UI design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54880" y="5056632"/>
            <a:ext cx="91440" cy="91440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27" name="Text 25"/>
          <p:cNvSpPr/>
          <p:nvPr/>
        </p:nvSpPr>
        <p:spPr>
          <a:xfrm>
            <a:off x="4974336" y="490118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66176" y="1600200"/>
            <a:ext cx="3630168" cy="4434840"/>
          </a:xfrm>
          <a:prstGeom prst="roundRect">
            <a:avLst>
              <a:gd name="adj" fmla="val 3023"/>
            </a:avLst>
          </a:prstGeom>
          <a:solidFill>
            <a:srgbClr val="21295C"/>
          </a:solidFill>
          <a:ln/>
        </p:spPr>
      </p:sp>
      <p:sp>
        <p:nvSpPr>
          <p:cNvPr id="29" name="Shape 27"/>
          <p:cNvSpPr/>
          <p:nvPr/>
        </p:nvSpPr>
        <p:spPr>
          <a:xfrm>
            <a:off x="8586216" y="1920240"/>
            <a:ext cx="594360" cy="594360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30" name="Text 28"/>
          <p:cNvSpPr/>
          <p:nvPr/>
        </p:nvSpPr>
        <p:spPr>
          <a:xfrm>
            <a:off x="8586216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90" dirty="0"/>
          </a:p>
        </p:txBody>
      </p:sp>
      <p:sp>
        <p:nvSpPr>
          <p:cNvPr id="31" name="Text 29"/>
          <p:cNvSpPr/>
          <p:nvPr/>
        </p:nvSpPr>
        <p:spPr>
          <a:xfrm>
            <a:off x="8586216" y="2697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8613648" y="3355848"/>
            <a:ext cx="91440" cy="91440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33" name="Text 31"/>
          <p:cNvSpPr/>
          <p:nvPr/>
        </p:nvSpPr>
        <p:spPr>
          <a:xfrm>
            <a:off x="8833104" y="3200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Docker Compose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613648" y="3922776"/>
            <a:ext cx="91440" cy="91440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35" name="Text 33"/>
          <p:cNvSpPr/>
          <p:nvPr/>
        </p:nvSpPr>
        <p:spPr>
          <a:xfrm>
            <a:off x="8833104" y="376732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manifests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613648" y="4489704"/>
            <a:ext cx="91440" cy="91440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37" name="Text 35"/>
          <p:cNvSpPr/>
          <p:nvPr/>
        </p:nvSpPr>
        <p:spPr>
          <a:xfrm>
            <a:off x="8833104" y="433425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reverse proxy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613648" y="5056632"/>
            <a:ext cx="91440" cy="91440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39" name="Text 37"/>
          <p:cNvSpPr/>
          <p:nvPr/>
        </p:nvSpPr>
        <p:spPr>
          <a:xfrm>
            <a:off x="8833104" y="490118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Fleets Are Managed Today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small and mid-size fleet operators still rely on manual, spreadsheet-based tracking instead of a purpose-built system.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660904"/>
            <a:ext cx="548640" cy="548640"/>
          </a:xfrm>
          <a:prstGeom prst="ellipse">
            <a:avLst/>
          </a:prstGeom>
          <a:solidFill>
            <a:srgbClr val="C7CFD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6609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1417320" y="25877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&amp; paper logs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17320" y="291693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Vehicle, driver and trip details tracked manually across files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502152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3648456"/>
            <a:ext cx="548640" cy="548640"/>
          </a:xfrm>
          <a:prstGeom prst="ellipse">
            <a:avLst/>
          </a:prstGeom>
          <a:solidFill>
            <a:srgbClr val="C7CFD8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6484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1417320" y="35753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assignment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417320" y="39044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check for double-booked vehicles or drivers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489704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4636008"/>
            <a:ext cx="548640" cy="548640"/>
          </a:xfrm>
          <a:prstGeom prst="ellipse">
            <a:avLst/>
          </a:prstGeom>
          <a:solidFill>
            <a:srgbClr val="C7CFD8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636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1417320" y="45628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visibility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417320" y="4892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Dispatch, safety, and finance teams each keep their own records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5623560"/>
            <a:ext cx="548640" cy="548640"/>
          </a:xfrm>
          <a:prstGeom prst="ellipse">
            <a:avLst/>
          </a:prstGeom>
          <a:solidFill>
            <a:srgbClr val="C7CFD8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5623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60" dirty="0"/>
          </a:p>
        </p:txBody>
      </p:sp>
      <p:sp>
        <p:nvSpPr>
          <p:cNvPr id="23" name="Text 21"/>
          <p:cNvSpPr/>
          <p:nvPr/>
        </p:nvSpPr>
        <p:spPr>
          <a:xfrm>
            <a:off x="1417320" y="55504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maintenance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417320" y="58795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 is scheduled after a problem occurs, not before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40880" y="1508760"/>
            <a:ext cx="4572000" cy="4572000"/>
          </a:xfrm>
          <a:prstGeom prst="roundRect">
            <a:avLst>
              <a:gd name="adj" fmla="val 2400"/>
            </a:avLst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1828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WORKDAY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818120" y="23317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driver to check availability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406640" y="2990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818120" y="29900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paper log for vehicle status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406640" y="3648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818120" y="364845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trip manually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406640" y="43068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818120" y="430682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nothing conflicts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406640" y="4965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818120" y="49651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spreadsheet after the fact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AREAS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Goes Wrong Without a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30168" cy="2011680"/>
          </a:xfrm>
          <a:prstGeom prst="roundRect">
            <a:avLst>
              <a:gd name="adj" fmla="val 4545"/>
            </a:avLst>
          </a:prstGeom>
          <a:solidFill>
            <a:srgbClr val="2A347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47672"/>
            <a:ext cx="502920" cy="502920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822960" y="2587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93522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and drivers can be scheduled for two trips at once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07408" y="1691640"/>
            <a:ext cx="3630168" cy="2011680"/>
          </a:xfrm>
          <a:prstGeom prst="roundRect">
            <a:avLst>
              <a:gd name="adj" fmla="val 4545"/>
            </a:avLst>
          </a:prstGeom>
          <a:solidFill>
            <a:srgbClr val="2A3470"/>
          </a:solidFill>
          <a:ln/>
        </p:spPr>
      </p:sp>
      <p:sp>
        <p:nvSpPr>
          <p:cNvPr id="10" name="Shape 8"/>
          <p:cNvSpPr/>
          <p:nvPr/>
        </p:nvSpPr>
        <p:spPr>
          <a:xfrm>
            <a:off x="4681728" y="1947672"/>
            <a:ext cx="502920" cy="502920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4681728" y="2587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81728" y="293522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can exceed a vehicle's safe load capacity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66176" y="1691640"/>
            <a:ext cx="3630168" cy="2011680"/>
          </a:xfrm>
          <a:prstGeom prst="roundRect">
            <a:avLst>
              <a:gd name="adj" fmla="val 4545"/>
            </a:avLst>
          </a:prstGeom>
          <a:solidFill>
            <a:srgbClr val="2A3470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0496" y="1947672"/>
            <a:ext cx="502920" cy="502920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16" name="Text 14"/>
          <p:cNvSpPr/>
          <p:nvPr/>
        </p:nvSpPr>
        <p:spPr>
          <a:xfrm>
            <a:off x="8540496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8540496" y="2587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licenses missed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40496" y="293522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with expired licenses can still be assigned a trip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630168" cy="2011680"/>
          </a:xfrm>
          <a:prstGeom prst="roundRect">
            <a:avLst>
              <a:gd name="adj" fmla="val 4545"/>
            </a:avLst>
          </a:prstGeom>
          <a:solidFill>
            <a:srgbClr val="2A347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233672"/>
            <a:ext cx="502920" cy="502920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33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822960" y="4873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maintenance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22122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go without service until a breakdown forces the issue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07408" y="3977640"/>
            <a:ext cx="3630168" cy="2011680"/>
          </a:xfrm>
          <a:prstGeom prst="roundRect">
            <a:avLst>
              <a:gd name="adj" fmla="val 4545"/>
            </a:avLst>
          </a:prstGeom>
          <a:solidFill>
            <a:srgbClr val="2A3470"/>
          </a:solidFill>
          <a:ln/>
        </p:spPr>
      </p:sp>
      <p:sp>
        <p:nvSpPr>
          <p:cNvPr id="25" name="Shape 23"/>
          <p:cNvSpPr/>
          <p:nvPr/>
        </p:nvSpPr>
        <p:spPr>
          <a:xfrm>
            <a:off x="4681728" y="4233672"/>
            <a:ext cx="502920" cy="502920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26" name="Text 24"/>
          <p:cNvSpPr/>
          <p:nvPr/>
        </p:nvSpPr>
        <p:spPr>
          <a:xfrm>
            <a:off x="4681728" y="4233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27" name="Text 25"/>
          <p:cNvSpPr/>
          <p:nvPr/>
        </p:nvSpPr>
        <p:spPr>
          <a:xfrm>
            <a:off x="4681728" y="4873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 visibility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81728" y="522122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and expense data isn't linked to specific vehicles or trips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66176" y="3977640"/>
            <a:ext cx="3630168" cy="2011680"/>
          </a:xfrm>
          <a:prstGeom prst="roundRect">
            <a:avLst>
              <a:gd name="adj" fmla="val 4545"/>
            </a:avLst>
          </a:prstGeom>
          <a:solidFill>
            <a:srgbClr val="2A3470"/>
          </a:solidFill>
          <a:ln/>
        </p:spPr>
      </p:sp>
      <p:sp>
        <p:nvSpPr>
          <p:cNvPr id="30" name="Shape 28"/>
          <p:cNvSpPr/>
          <p:nvPr/>
        </p:nvSpPr>
        <p:spPr>
          <a:xfrm>
            <a:off x="8540496" y="4233672"/>
            <a:ext cx="502920" cy="502920"/>
          </a:xfrm>
          <a:prstGeom prst="ellipse">
            <a:avLst/>
          </a:prstGeom>
          <a:solidFill>
            <a:srgbClr val="4FD9C7"/>
          </a:solidFill>
          <a:ln/>
        </p:spPr>
      </p:sp>
      <p:sp>
        <p:nvSpPr>
          <p:cNvPr id="31" name="Text 29"/>
          <p:cNvSpPr/>
          <p:nvPr/>
        </p:nvSpPr>
        <p:spPr>
          <a:xfrm>
            <a:off x="8540496" y="4233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32" name="Text 30"/>
          <p:cNvSpPr/>
          <p:nvPr/>
        </p:nvSpPr>
        <p:spPr>
          <a:xfrm>
            <a:off x="8540496" y="4873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role-based access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40496" y="522122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sees and edits the same records, with no accountability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THE NEW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TransitOps Is Needed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 closes these gaps by enforcing the rules directly in the system, instead of relying on someone remembering to check.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48" dirty="0"/>
          </a:p>
        </p:txBody>
      </p:sp>
      <p:sp>
        <p:nvSpPr>
          <p:cNvPr id="7" name="Text 5"/>
          <p:cNvSpPr/>
          <p:nvPr/>
        </p:nvSpPr>
        <p:spPr>
          <a:xfrm>
            <a:off x="1143000" y="22768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errors automatically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6517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double-booking, overloaded cargo, expired-license drivers and retired vehicles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233172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48" dirty="0"/>
          </a:p>
        </p:txBody>
      </p:sp>
      <p:sp>
        <p:nvSpPr>
          <p:cNvPr id="11" name="Text 9"/>
          <p:cNvSpPr/>
          <p:nvPr/>
        </p:nvSpPr>
        <p:spPr>
          <a:xfrm>
            <a:off x="4983480" y="22768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system, every role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26517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manager, dispatcher, safety officer and finance each get the access they need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48" dirty="0"/>
          </a:p>
        </p:txBody>
      </p:sp>
      <p:sp>
        <p:nvSpPr>
          <p:cNvPr id="15" name="Text 13"/>
          <p:cNvSpPr/>
          <p:nvPr/>
        </p:nvSpPr>
        <p:spPr>
          <a:xfrm>
            <a:off x="8823960" y="22768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trip visibility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23960" y="26517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trip is tracked from draft through dispatch to completion or cancellation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617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48" dirty="0"/>
          </a:p>
        </p:txBody>
      </p:sp>
      <p:sp>
        <p:nvSpPr>
          <p:cNvPr id="19" name="Text 17"/>
          <p:cNvSpPr/>
          <p:nvPr/>
        </p:nvSpPr>
        <p:spPr>
          <a:xfrm>
            <a:off x="1143000" y="45628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cost tracking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9377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Fuel, expenses and maintenance costs are tied to the vehicle and trip that caused them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461772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4617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48" dirty="0"/>
          </a:p>
        </p:txBody>
      </p:sp>
      <p:sp>
        <p:nvSpPr>
          <p:cNvPr id="23" name="Text 21"/>
          <p:cNvSpPr/>
          <p:nvPr/>
        </p:nvSpPr>
        <p:spPr>
          <a:xfrm>
            <a:off x="4983480" y="45628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maintenance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49377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alerts when a vehicle is approaching its next service interval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0" y="461772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4617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48" dirty="0"/>
          </a:p>
        </p:txBody>
      </p:sp>
      <p:sp>
        <p:nvSpPr>
          <p:cNvPr id="27" name="Text 25"/>
          <p:cNvSpPr/>
          <p:nvPr/>
        </p:nvSpPr>
        <p:spPr>
          <a:xfrm>
            <a:off x="8823960" y="45628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823960" y="49377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to a trip is logged, so actions can always be traced back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 DIAGRAM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 Lifecycle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468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7614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12724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creates trip: vehicle, driver, cargo, schedule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32888" y="2834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70632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2880360" y="2468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07792" y="27614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07792" y="312724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validates load, license, availability &amp; conflicts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2834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992624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5102352" y="2468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9784" y="27614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29784" y="312724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driver marked "on trip", trip goes live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76872" y="2834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214616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7324344" y="2468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51776" y="27614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Transit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51776" y="312724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is en route to destination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98864" y="2834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436608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9546336" y="2468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73768" y="27614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573768" y="312724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Distance, fuel &amp; revenue logged; vehicle &amp; driver freed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425196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DECEC"/>
          </a:solidFill>
          <a:ln w="12700">
            <a:solidFill>
              <a:srgbClr val="F3C6C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44805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60" dirty="0"/>
          </a:p>
        </p:txBody>
      </p:sp>
      <p:sp>
        <p:nvSpPr>
          <p:cNvPr id="31" name="Text 29"/>
          <p:cNvSpPr/>
          <p:nvPr/>
        </p:nvSpPr>
        <p:spPr>
          <a:xfrm>
            <a:off x="150876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Path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508760" y="47548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trip in Draft or Dispatched status can be cancelled at any time — any reserved vehicle or driver is released back to available.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(load capacity, license validity, scheduling conflicts) are enforced automatically at every step — invalid actions are blocked before they happen.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0"/>
            <a:ext cx="12188952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2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 — one platform for vehicles, drivers, trips, fuel and maintenance.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741</Words>
  <Application>Microsoft Office PowerPoint</Application>
  <PresentationFormat>Widescreen</PresentationFormat>
  <Paragraphs>169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Niv Patel</cp:lastModifiedBy>
  <cp:revision>2</cp:revision>
  <dcterms:created xsi:type="dcterms:W3CDTF">2026-08-04T12:58:59Z</dcterms:created>
  <dcterms:modified xsi:type="dcterms:W3CDTF">2026-08-04T13:34:44Z</dcterms:modified>
</cp:coreProperties>
</file>